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  <p:sldId id="261" r:id="rId1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5084E-9CF4-3942-9685-4BF7B41998B1}"/>
              </a:ext>
            </a:extLst>
          </p:cNvPr>
          <p:cNvSpPr txBox="1"/>
          <p:nvPr/>
        </p:nvSpPr>
        <p:spPr>
          <a:xfrm>
            <a:off x="6258118" y="2780021"/>
            <a:ext cx="6097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JetBrains Mono"/>
              </a:rPr>
              <a:t>Memory c</a:t>
            </a:r>
            <a:r>
              <a:rPr lang="en-GB" sz="1800" dirty="0">
                <a:effectLst/>
                <a:latin typeface="JetBrains Mono"/>
              </a:rPr>
              <a:t>ompared to Zombies:</a:t>
            </a:r>
          </a:p>
          <a:p>
            <a:pPr>
              <a:buNone/>
            </a:pPr>
            <a:r>
              <a:rPr lang="en-GB" sz="1800" dirty="0" err="1">
                <a:effectLst/>
                <a:latin typeface="JetBrains Mono"/>
              </a:rPr>
              <a:t>Items.RemoveAll</a:t>
            </a:r>
            <a:r>
              <a:rPr lang="en-GB" sz="1800" dirty="0">
                <a:effectLst/>
                <a:latin typeface="JetBrains Mono"/>
              </a:rPr>
              <a:t>( [](</a:t>
            </a:r>
            <a:r>
              <a:rPr lang="en-GB" sz="1800" dirty="0" err="1">
                <a:effectLst/>
                <a:latin typeface="JetBrains Mono"/>
              </a:rPr>
              <a:t>const</a:t>
            </a:r>
            <a:r>
              <a:rPr lang="en-GB" sz="1800" dirty="0">
                <a:effectLst/>
                <a:latin typeface="JetBrains Mono"/>
              </a:rPr>
              <a:t> </a:t>
            </a:r>
            <a:r>
              <a:rPr lang="en-GB" sz="1800" dirty="0" err="1">
                <a:effectLst/>
                <a:latin typeface="JetBrains Mono"/>
              </a:rPr>
              <a:t>FPerceivedItem</a:t>
            </a:r>
            <a:r>
              <a:rPr lang="en-GB" sz="1800" dirty="0">
                <a:effectLst/>
                <a:latin typeface="JetBrains Mono"/>
              </a:rPr>
              <a:t>&amp; R)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{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    return !</a:t>
            </a:r>
            <a:r>
              <a:rPr lang="en-GB" sz="1800" dirty="0" err="1">
                <a:effectLst/>
                <a:latin typeface="JetBrains Mono"/>
              </a:rPr>
              <a:t>R.Actor.IsValid</a:t>
            </a:r>
            <a:r>
              <a:rPr lang="en-GB" sz="1800" dirty="0">
                <a:effectLst/>
                <a:latin typeface="JetBrains Mono"/>
              </a:rPr>
              <a:t>() || </a:t>
            </a:r>
            <a:r>
              <a:rPr lang="en-GB" sz="1800" dirty="0" err="1">
                <a:effectLst/>
                <a:latin typeface="JetBrains Mono"/>
              </a:rPr>
              <a:t>R.Actor</a:t>
            </a:r>
            <a:r>
              <a:rPr lang="en-GB" sz="1800" dirty="0">
                <a:effectLst/>
                <a:latin typeface="JetBrains Mono"/>
              </a:rPr>
              <a:t>-&gt;</a:t>
            </a:r>
            <a:r>
              <a:rPr lang="en-GB" sz="1800" dirty="0" err="1">
                <a:effectLst/>
                <a:latin typeface="JetBrains Mono"/>
              </a:rPr>
              <a:t>IsHidden</a:t>
            </a:r>
            <a:r>
              <a:rPr lang="en-GB" sz="1800" dirty="0">
                <a:effectLst/>
                <a:latin typeface="JetBrains Mono"/>
              </a:rPr>
              <a:t>();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});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 err="1">
                <a:effectLst/>
                <a:latin typeface="JetBrains Mono"/>
              </a:rPr>
              <a:t>Zombies.RemoveAll</a:t>
            </a:r>
            <a:r>
              <a:rPr lang="en-GB" sz="1800" dirty="0">
                <a:effectLst/>
                <a:latin typeface="JetBrains Mono"/>
              </a:rPr>
              <a:t>([&amp;](</a:t>
            </a:r>
            <a:r>
              <a:rPr lang="en-GB" sz="1800" dirty="0" err="1">
                <a:effectLst/>
                <a:latin typeface="JetBrains Mono"/>
              </a:rPr>
              <a:t>const</a:t>
            </a:r>
            <a:r>
              <a:rPr lang="en-GB" sz="1800" dirty="0">
                <a:effectLst/>
                <a:latin typeface="JetBrains Mono"/>
              </a:rPr>
              <a:t> </a:t>
            </a:r>
            <a:r>
              <a:rPr lang="en-GB" sz="1800" dirty="0" err="1">
                <a:effectLst/>
                <a:latin typeface="JetBrains Mono"/>
              </a:rPr>
              <a:t>FPerceivedActor</a:t>
            </a:r>
            <a:r>
              <a:rPr lang="en-GB" sz="1800" dirty="0">
                <a:effectLst/>
                <a:latin typeface="JetBrains Mono"/>
              </a:rPr>
              <a:t>&amp; R)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{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    return !</a:t>
            </a:r>
            <a:r>
              <a:rPr lang="en-GB" sz="1800" dirty="0" err="1">
                <a:effectLst/>
                <a:latin typeface="JetBrains Mono"/>
              </a:rPr>
              <a:t>R.Actor.IsValid</a:t>
            </a:r>
            <a:r>
              <a:rPr lang="en-GB" sz="1800" dirty="0">
                <a:effectLst/>
                <a:latin typeface="JetBrains Mono"/>
              </a:rPr>
              <a:t>() || (!</a:t>
            </a:r>
            <a:r>
              <a:rPr lang="en-GB" sz="1800" dirty="0" err="1">
                <a:effectLst/>
                <a:latin typeface="JetBrains Mono"/>
              </a:rPr>
              <a:t>R.bIsVisible</a:t>
            </a:r>
            <a:r>
              <a:rPr lang="en-GB" sz="1800" dirty="0">
                <a:effectLst/>
                <a:latin typeface="JetBrains Mono"/>
              </a:rPr>
              <a:t> &amp;&amp; (</a:t>
            </a:r>
            <a:r>
              <a:rPr lang="en-GB" sz="1800" dirty="0" err="1">
                <a:effectLst/>
                <a:latin typeface="JetBrains Mono"/>
              </a:rPr>
              <a:t>TimeNow</a:t>
            </a:r>
            <a:r>
              <a:rPr lang="en-GB" sz="1800" dirty="0">
                <a:effectLst/>
                <a:latin typeface="JetBrains Mono"/>
              </a:rPr>
              <a:t> - </a:t>
            </a:r>
            <a:r>
              <a:rPr lang="en-GB" sz="1800" dirty="0" err="1">
                <a:effectLst/>
                <a:latin typeface="JetBrains Mono"/>
              </a:rPr>
              <a:t>R.LastSeenTime</a:t>
            </a:r>
            <a:r>
              <a:rPr lang="en-GB" sz="1800" dirty="0">
                <a:effectLst/>
                <a:latin typeface="JetBrains Mono"/>
              </a:rPr>
              <a:t>) &gt; </a:t>
            </a:r>
            <a:r>
              <a:rPr lang="en-GB" sz="1800" dirty="0" err="1">
                <a:effectLst/>
                <a:latin typeface="JetBrains Mono"/>
              </a:rPr>
              <a:t>ThreatMemoryDuration</a:t>
            </a:r>
            <a:r>
              <a:rPr lang="en-GB" sz="1800" dirty="0">
                <a:effectLst/>
                <a:latin typeface="JetBrains Mono"/>
              </a:rPr>
              <a:t>);</a:t>
            </a:r>
            <a:br>
              <a:rPr lang="en-GB" sz="1800" dirty="0">
                <a:effectLst/>
                <a:latin typeface="JetBrains Mono"/>
              </a:rPr>
            </a:br>
            <a:r>
              <a:rPr lang="en-GB" sz="1800" dirty="0">
                <a:effectLst/>
                <a:latin typeface="JetBrains Mono"/>
              </a:rPr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FF6DB-97B2-25A0-EC65-E01180646B8A}"/>
              </a:ext>
            </a:extLst>
          </p:cNvPr>
          <p:cNvSpPr txBox="1"/>
          <p:nvPr/>
        </p:nvSpPr>
        <p:spPr>
          <a:xfrm>
            <a:off x="81316" y="2989118"/>
            <a:ext cx="61768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JetBrains Mono"/>
              </a:rPr>
              <a:t>Combat vs Flee:</a:t>
            </a:r>
            <a:br>
              <a:rPr lang="en-GB" dirty="0">
                <a:latin typeface="JetBrains Mono"/>
              </a:rPr>
            </a:br>
            <a:r>
              <a:rPr lang="en-GB" dirty="0">
                <a:latin typeface="JetBrains Mono"/>
              </a:rPr>
              <a:t>By storing new Threat connected data such as speed and near count, a Should Flee flag is set which is checked once Combat or Flee tasks are entered.</a:t>
            </a:r>
          </a:p>
          <a:p>
            <a:pPr>
              <a:buNone/>
            </a:pPr>
            <a:r>
              <a:rPr lang="en-GB" dirty="0">
                <a:latin typeface="JetBrains Mono"/>
              </a:rPr>
              <a:t>The should flee conditions are:</a:t>
            </a:r>
          </a:p>
          <a:p>
            <a:pPr>
              <a:buNone/>
            </a:pPr>
            <a:r>
              <a:rPr lang="en-GB" dirty="0">
                <a:latin typeface="JetBrains Mono"/>
              </a:rPr>
              <a:t>1. No weapon / no ammo on weapon</a:t>
            </a:r>
          </a:p>
          <a:p>
            <a:pPr>
              <a:buNone/>
            </a:pPr>
            <a:r>
              <a:rPr lang="en-GB" dirty="0">
                <a:latin typeface="JetBrains Mono"/>
              </a:rPr>
              <a:t>2. Health too low</a:t>
            </a:r>
          </a:p>
          <a:p>
            <a:pPr>
              <a:buNone/>
            </a:pPr>
            <a:r>
              <a:rPr lang="en-GB" dirty="0">
                <a:latin typeface="JetBrains Mono"/>
              </a:rPr>
              <a:t>3. Too many Threats nearby</a:t>
            </a:r>
          </a:p>
          <a:p>
            <a:pPr>
              <a:buNone/>
            </a:pPr>
            <a:r>
              <a:rPr lang="en-GB" dirty="0">
                <a:latin typeface="JetBrains Mono"/>
              </a:rPr>
              <a:t>4. Heavy zombie as Threat Actor - not worth fighting</a:t>
            </a:r>
            <a:endParaRPr lang="en-GB" sz="1800" dirty="0"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A1107-B0DD-445B-EB4B-A1EF37F4EB91}"/>
              </a:ext>
            </a:extLst>
          </p:cNvPr>
          <p:cNvSpPr txBox="1"/>
          <p:nvPr/>
        </p:nvSpPr>
        <p:spPr>
          <a:xfrm>
            <a:off x="730293" y="3479630"/>
            <a:ext cx="8665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Weapons fire along the forward vector, zombies need to be “faced” so we use the FACE steering Behaviour.</a:t>
            </a:r>
          </a:p>
          <a:p>
            <a:r>
              <a:rPr lang="en-GB" dirty="0"/>
              <a:t>Evade/Flee will also be useful for close range kiting.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564C4A-320B-31A3-68E5-3844BD49CF61}"/>
              </a:ext>
            </a:extLst>
          </p:cNvPr>
          <p:cNvSpPr txBox="1"/>
          <p:nvPr/>
        </p:nvSpPr>
        <p:spPr>
          <a:xfrm>
            <a:off x="5256778" y="2665504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FSM is the perfect fit for Aim and Fire + back off when cornered + re-aim when zombie moves combat logic!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EE9F25-7D4F-5BED-CF2E-916834DA9E2F}"/>
              </a:ext>
            </a:extLst>
          </p:cNvPr>
          <p:cNvSpPr txBox="1"/>
          <p:nvPr/>
        </p:nvSpPr>
        <p:spPr>
          <a:xfrm>
            <a:off x="5736480" y="21139"/>
            <a:ext cx="60970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/>
              <a:t>FSM Instance is Built and Started in the Task Enter.</a:t>
            </a:r>
          </a:p>
          <a:p>
            <a:r>
              <a:rPr lang="LID4096" dirty="0"/>
              <a:t>FSM Instance is Ticked in Task Tick.</a:t>
            </a:r>
          </a:p>
          <a:p>
            <a:r>
              <a:rPr lang="LID4096" dirty="0"/>
              <a:t>FSM Instance is stopped in Task Abort and Task End.</a:t>
            </a:r>
          </a:p>
          <a:p>
            <a:r>
              <a:rPr lang="LID4096" dirty="0"/>
              <a:t>-------------------------------------</a:t>
            </a:r>
          </a:p>
          <a:p>
            <a:r>
              <a:rPr lang="LID4096" dirty="0"/>
              <a:t>Combat States are assigned Transitions which constantly check the distance between Survivor and Threat.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2D738-227C-D386-FA63-98BE1429A5C7}"/>
              </a:ext>
            </a:extLst>
          </p:cNvPr>
          <p:cNvSpPr txBox="1"/>
          <p:nvPr/>
        </p:nvSpPr>
        <p:spPr>
          <a:xfrm>
            <a:off x="4122703" y="4738549"/>
            <a:ext cx="63485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Fleeing is interesting – at first, I thought reusing Evade</a:t>
            </a:r>
          </a:p>
          <a:p>
            <a:r>
              <a:rPr lang="en-GB" dirty="0"/>
              <a:t>would be perfect for this situation but then I came to the </a:t>
            </a:r>
          </a:p>
          <a:p>
            <a:r>
              <a:rPr lang="en-GB" dirty="0"/>
              <a:t>idea that Evade does not care about walls or generation.</a:t>
            </a:r>
          </a:p>
          <a:p>
            <a:r>
              <a:rPr lang="en-GB" dirty="0"/>
              <a:t>That’s why I decided to make a dedicated Find Flee Location </a:t>
            </a:r>
          </a:p>
          <a:p>
            <a:r>
              <a:rPr lang="en-GB" dirty="0"/>
              <a:t>task which calculates the “Best” position to move to when fleeing</a:t>
            </a:r>
          </a:p>
          <a:p>
            <a:r>
              <a:rPr lang="en-GB" dirty="0"/>
              <a:t>while taking into account walls and best direction.</a:t>
            </a: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3805A-2830-C83A-A80B-D09BE1850F09}"/>
              </a:ext>
            </a:extLst>
          </p:cNvPr>
          <p:cNvSpPr txBox="1"/>
          <p:nvPr/>
        </p:nvSpPr>
        <p:spPr>
          <a:xfrm>
            <a:off x="102794" y="2664673"/>
            <a:ext cx="60970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AActor</a:t>
            </a:r>
            <a:r>
              <a:rPr lang="en-GB" sz="1800" dirty="0"/>
              <a:t>* </a:t>
            </a:r>
            <a:r>
              <a:rPr lang="en-GB" sz="1800" dirty="0" err="1"/>
              <a:t>SelectTargetItem</a:t>
            </a:r>
            <a:r>
              <a:rPr lang="en-GB" sz="1800" dirty="0"/>
              <a:t>() </a:t>
            </a:r>
            <a:r>
              <a:rPr lang="en-GB" sz="1800" dirty="0" err="1"/>
              <a:t>const</a:t>
            </a:r>
            <a:r>
              <a:rPr lang="en-GB" sz="1800" dirty="0"/>
              <a:t>;</a:t>
            </a:r>
          </a:p>
          <a:p>
            <a:r>
              <a:rPr lang="en-GB" sz="1800" dirty="0"/>
              <a:t>int32 </a:t>
            </a:r>
            <a:r>
              <a:rPr lang="en-GB" sz="1800" dirty="0" err="1"/>
              <a:t>GetItemPriority</a:t>
            </a:r>
            <a:r>
              <a:rPr lang="en-GB" sz="1800" dirty="0"/>
              <a:t>(</a:t>
            </a:r>
            <a:r>
              <a:rPr lang="en-GB" sz="1800" dirty="0" err="1"/>
              <a:t>EItemType</a:t>
            </a:r>
            <a:r>
              <a:rPr lang="en-GB" sz="1800" dirty="0"/>
              <a:t> ItemType, int32 Value) </a:t>
            </a:r>
            <a:r>
              <a:rPr lang="en-GB" sz="1800" dirty="0" err="1"/>
              <a:t>const</a:t>
            </a:r>
            <a:r>
              <a:rPr lang="en-GB" sz="1800" dirty="0"/>
              <a:t>; </a:t>
            </a:r>
            <a:br>
              <a:rPr lang="en-GB" sz="1800" i="1" dirty="0"/>
            </a:br>
            <a:r>
              <a:rPr lang="en-GB" sz="1800" dirty="0"/>
              <a:t>bool </a:t>
            </a:r>
            <a:r>
              <a:rPr lang="en-GB" sz="1800" dirty="0" err="1"/>
              <a:t>HasUsableWeapon</a:t>
            </a:r>
            <a:r>
              <a:rPr lang="en-GB" sz="1800" dirty="0"/>
              <a:t>() </a:t>
            </a:r>
            <a:r>
              <a:rPr lang="en-GB" sz="1800" dirty="0" err="1"/>
              <a:t>const</a:t>
            </a:r>
            <a:r>
              <a:rPr lang="en-GB" sz="1800" dirty="0"/>
              <a:t> </a:t>
            </a:r>
            <a:r>
              <a:rPr lang="en-GB" sz="1800" dirty="0" err="1"/>
              <a:t>noexcept</a:t>
            </a:r>
            <a:r>
              <a:rPr lang="en-GB" sz="1800" dirty="0"/>
              <a:t>;</a:t>
            </a:r>
            <a:br>
              <a:rPr lang="en-GB" sz="1800" i="1" dirty="0"/>
            </a:b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AF3CD0-8532-CDD3-3437-B03ABB00E8A3}"/>
              </a:ext>
            </a:extLst>
          </p:cNvPr>
          <p:cNvSpPr txBox="1"/>
          <p:nvPr/>
        </p:nvSpPr>
        <p:spPr>
          <a:xfrm>
            <a:off x="127343" y="4184551"/>
            <a:ext cx="62228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" b="0" i="0" dirty="0">
                <a:effectLst/>
                <a:latin typeface="SFMono-Regular"/>
              </a:rPr>
              <a:t>Making use of the BT Task class - Use Item of Type, we set the HIGHEST priority node in the whole BT to be Emergency Heal, the condition being HealthPct &lt;= 0.3. Next is Combat which we already did. But after that comes Eat when Tired which is again if StaminaPct &lt;= 0.3 -&gt; Use Item of Type: Food. The final new addition is the Task Drop Empty Weapon which comes before Loot and internally returns Success if: - has weapon of Pistol or/and Shotgun - weapon's Item value &lt;= 0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/>
              <a:t>I decided to first name the least-urgent task Exploration. After thinking deeper, I thought that Discover would be a better name since the survivor starts with 0 memory – it knows of 0 houses. So, it starts trying to DISCOVER houses which they can then explore.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Perception – produces knowledge/memory of surroundings. When the Survivor doesn’t look at something, some data is still kept in the BB – </a:t>
            </a:r>
            <a:r>
              <a:rPr lang="en-US" sz="1600" b="1" dirty="0" err="1"/>
              <a:t>ThreatActor</a:t>
            </a:r>
            <a:r>
              <a:rPr lang="en-US" sz="1600" b="1" dirty="0"/>
              <a:t>, </a:t>
            </a:r>
            <a:r>
              <a:rPr lang="en-US" sz="1600" b="1" dirty="0" err="1"/>
              <a:t>TargetItem</a:t>
            </a:r>
            <a:r>
              <a:rPr lang="en-US" sz="1600" b="1" dirty="0"/>
              <a:t>, </a:t>
            </a:r>
            <a:r>
              <a:rPr lang="en-US" sz="1600" b="1" dirty="0" err="1"/>
              <a:t>KnownHouseTarget</a:t>
            </a:r>
            <a:r>
              <a:rPr lang="en-US" sz="1600" b="1" dirty="0"/>
              <a:t>. The BT then decides what do with this information.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GB" sz="1600" b="1" dirty="0"/>
              <a:t>Implemented the alternative for Handle Sight - Handle Damage:</a:t>
            </a:r>
          </a:p>
          <a:p>
            <a:pPr marL="0" indent="0">
              <a:buNone/>
            </a:pPr>
            <a:r>
              <a:rPr lang="en-GB" sz="1600" b="1" dirty="0"/>
              <a:t>since only zombies can damage survivor, simply record and/or add the Zombie in the memory array.</a:t>
            </a:r>
          </a:p>
          <a:p>
            <a:pPr marL="0" indent="0">
              <a:buNone/>
            </a:pPr>
            <a:r>
              <a:rPr lang="en-GB" sz="1600" b="1" dirty="0"/>
              <a:t>-------------------------------------</a:t>
            </a:r>
          </a:p>
          <a:p>
            <a:pPr marL="0" indent="0">
              <a:buNone/>
            </a:pPr>
            <a:r>
              <a:rPr lang="en-GB" sz="1600" b="1" dirty="0"/>
              <a:t>Refresh World Memory is currently being called in an interval using a timer. </a:t>
            </a:r>
          </a:p>
          <a:p>
            <a:pPr marL="0" indent="0">
              <a:buNone/>
            </a:pPr>
            <a:r>
              <a:rPr lang="en-GB" sz="1600" b="1" dirty="0"/>
              <a:t>The logic itself is:</a:t>
            </a:r>
          </a:p>
          <a:p>
            <a:pPr marL="0" indent="0">
              <a:buNone/>
            </a:pPr>
            <a:r>
              <a:rPr lang="en-GB" sz="1600" b="1" dirty="0"/>
              <a:t>1. Remove old/stagnant memory for zombies, items and houses</a:t>
            </a:r>
          </a:p>
          <a:p>
            <a:pPr marL="0" indent="0">
              <a:buNone/>
            </a:pPr>
            <a:r>
              <a:rPr lang="en-GB" sz="1600" b="1" dirty="0"/>
              <a:t>2. Update Houses visited flag</a:t>
            </a:r>
          </a:p>
          <a:p>
            <a:pPr marL="0" indent="0">
              <a:buNone/>
            </a:pPr>
            <a:r>
              <a:rPr lang="en-GB" sz="1600" b="1" dirty="0"/>
              <a:t>3. Write to Blackboard</a:t>
            </a:r>
            <a:endParaRPr lang="en-US" sz="1600" b="1" dirty="0"/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3C08B-A0CE-CE58-9502-6C506F51C298}"/>
              </a:ext>
            </a:extLst>
          </p:cNvPr>
          <p:cNvSpPr txBox="1"/>
          <p:nvPr/>
        </p:nvSpPr>
        <p:spPr>
          <a:xfrm>
            <a:off x="7990261" y="595281"/>
            <a:ext cx="3166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// ----- Hardest Logic of the class -----</a:t>
            </a:r>
            <a:br>
              <a:rPr lang="en-GB" sz="1400" i="1" dirty="0"/>
            </a:br>
            <a:r>
              <a:rPr lang="en-GB" sz="1400" dirty="0" err="1"/>
              <a:t>AActor</a:t>
            </a:r>
            <a:r>
              <a:rPr lang="en-GB" sz="1400" dirty="0"/>
              <a:t>* </a:t>
            </a:r>
            <a:r>
              <a:rPr lang="en-GB" sz="1400" dirty="0" err="1"/>
              <a:t>SelectThreat</a:t>
            </a:r>
            <a:r>
              <a:rPr lang="en-GB" sz="1400" dirty="0"/>
              <a:t>() </a:t>
            </a:r>
            <a:r>
              <a:rPr lang="en-GB" sz="1400" dirty="0" err="1"/>
              <a:t>const</a:t>
            </a:r>
            <a:r>
              <a:rPr lang="en-GB" sz="1400" dirty="0"/>
              <a:t>; </a:t>
            </a:r>
          </a:p>
          <a:p>
            <a:r>
              <a:rPr lang="en-GB" sz="1400" dirty="0" err="1"/>
              <a:t>AActor</a:t>
            </a:r>
            <a:r>
              <a:rPr lang="en-GB" sz="1400" dirty="0"/>
              <a:t>* </a:t>
            </a:r>
            <a:r>
              <a:rPr lang="en-GB" sz="1400" dirty="0" err="1"/>
              <a:t>SelectTargetItem</a:t>
            </a:r>
            <a:r>
              <a:rPr lang="en-GB" sz="1400" dirty="0"/>
              <a:t>() </a:t>
            </a:r>
            <a:r>
              <a:rPr lang="en-GB" sz="1400" dirty="0" err="1"/>
              <a:t>const</a:t>
            </a:r>
            <a:r>
              <a:rPr lang="en-GB" sz="1400" dirty="0"/>
              <a:t>;</a:t>
            </a:r>
            <a:br>
              <a:rPr lang="en-GB" sz="1400" i="1" dirty="0"/>
            </a:br>
            <a:r>
              <a:rPr lang="en-GB" sz="1400" dirty="0" err="1"/>
              <a:t>AActor</a:t>
            </a:r>
            <a:r>
              <a:rPr lang="en-GB" sz="1400" dirty="0"/>
              <a:t>* </a:t>
            </a:r>
            <a:r>
              <a:rPr lang="en-GB" sz="1400" dirty="0" err="1"/>
              <a:t>SelectHouseTarget</a:t>
            </a:r>
            <a:r>
              <a:rPr lang="en-GB" sz="1400" dirty="0"/>
              <a:t>() </a:t>
            </a:r>
            <a:r>
              <a:rPr lang="en-GB" sz="1400" dirty="0" err="1"/>
              <a:t>const</a:t>
            </a:r>
            <a:r>
              <a:rPr lang="en-GB" sz="1400" dirty="0"/>
              <a:t>;</a:t>
            </a:r>
            <a:endParaRPr lang="LID4096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7ED8C-910F-DA03-47CA-72F93D9CBA04}"/>
              </a:ext>
            </a:extLst>
          </p:cNvPr>
          <p:cNvSpPr txBox="1"/>
          <p:nvPr/>
        </p:nvSpPr>
        <p:spPr>
          <a:xfrm>
            <a:off x="5724206" y="4834572"/>
            <a:ext cx="60970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SFMono-Regular"/>
              </a:rPr>
              <a:t>The survivor would often get stuck in the visited house range AFTER </a:t>
            </a:r>
            <a:r>
              <a:rPr lang="en-GB" b="0" i="0" dirty="0" err="1">
                <a:effectLst/>
                <a:latin typeface="SFMono-Regular"/>
              </a:rPr>
              <a:t>MoveTo</a:t>
            </a:r>
            <a:r>
              <a:rPr lang="en-GB" b="0" i="0" dirty="0">
                <a:effectLst/>
                <a:latin typeface="SFMono-Regular"/>
              </a:rPr>
              <a:t> has already returned succeeded for the </a:t>
            </a:r>
            <a:r>
              <a:rPr lang="en-GB" b="0" i="0" dirty="0" err="1">
                <a:effectLst/>
                <a:latin typeface="SFMono-Regular"/>
              </a:rPr>
              <a:t>InvestigateHouse</a:t>
            </a:r>
            <a:r>
              <a:rPr lang="en-GB" b="0" i="0" dirty="0">
                <a:effectLst/>
                <a:latin typeface="SFMono-Regular"/>
              </a:rPr>
              <a:t> sequence. This made the survivor stuck infinitely. Now a Stuck Check is added with an interval that marks the investigated house as visited and moves on.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Score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Screen shot or list of highest scores</a:t>
            </a:r>
            <a:endParaRPr lang="en-BE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73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838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JetBrains Mono</vt:lpstr>
      <vt:lpstr>SFMono-Regular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High Score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Daniel Adamov</cp:lastModifiedBy>
  <cp:revision>14</cp:revision>
  <dcterms:created xsi:type="dcterms:W3CDTF">2021-12-17T12:45:32Z</dcterms:created>
  <dcterms:modified xsi:type="dcterms:W3CDTF">2026-06-02T16:02:52Z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