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258118" y="2780021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FF6DB-97B2-25A0-EC65-E01180646B8A}"/>
              </a:ext>
            </a:extLst>
          </p:cNvPr>
          <p:cNvSpPr txBox="1"/>
          <p:nvPr/>
        </p:nvSpPr>
        <p:spPr>
          <a:xfrm>
            <a:off x="81316" y="2989118"/>
            <a:ext cx="61768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Combat vs Flee:</a:t>
            </a:r>
            <a:br>
              <a:rPr lang="en-GB" dirty="0">
                <a:latin typeface="JetBrains Mono"/>
              </a:rPr>
            </a:br>
            <a:r>
              <a:rPr lang="en-GB" dirty="0">
                <a:latin typeface="JetBrains Mono"/>
              </a:rPr>
              <a:t>By storing new Threat connected data such as speed and near count, a Should Flee flag is set which is checked once Combat or Flee tasks are entered.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The should flee conditions are: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1. No weapon / no ammo on weapon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2. Health too low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3. Too many Threats nearby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4. Heavy zombie as Threat Actor - not worth fighting</a:t>
            </a:r>
            <a:endParaRPr lang="en-GB" sz="1800" dirty="0"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A1107-B0DD-445B-EB4B-A1EF37F4EB91}"/>
              </a:ext>
            </a:extLst>
          </p:cNvPr>
          <p:cNvSpPr txBox="1"/>
          <p:nvPr/>
        </p:nvSpPr>
        <p:spPr>
          <a:xfrm>
            <a:off x="294572" y="3185782"/>
            <a:ext cx="8665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Weapons fire along the forward vector, zombies need to be “faced” so we use the FACE steering Behaviour.</a:t>
            </a:r>
          </a:p>
          <a:p>
            <a:r>
              <a:rPr lang="en-GB" dirty="0"/>
              <a:t>Evade/Flee will also be useful for close range kiting.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64C4A-320B-31A3-68E5-3844BD49CF61}"/>
              </a:ext>
            </a:extLst>
          </p:cNvPr>
          <p:cNvSpPr txBox="1"/>
          <p:nvPr/>
        </p:nvSpPr>
        <p:spPr>
          <a:xfrm>
            <a:off x="5864834" y="2192071"/>
            <a:ext cx="60970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FSM is the perfect fit for Aim and Fire + back off when cornered + re-aim when zombie moves combat logic!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E9F25-7D4F-5BED-CF2E-916834DA9E2F}"/>
              </a:ext>
            </a:extLst>
          </p:cNvPr>
          <p:cNvSpPr txBox="1"/>
          <p:nvPr/>
        </p:nvSpPr>
        <p:spPr>
          <a:xfrm>
            <a:off x="5736480" y="21139"/>
            <a:ext cx="60970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FSM Instance is Built and Started in the Task Enter.</a:t>
            </a:r>
          </a:p>
          <a:p>
            <a:r>
              <a:rPr lang="LID4096" dirty="0"/>
              <a:t>FSM Instance is Ticked in Task Tick.</a:t>
            </a:r>
          </a:p>
          <a:p>
            <a:r>
              <a:rPr lang="LID4096" dirty="0"/>
              <a:t>FSM Instance is stopped in Task Abort and Task End.</a:t>
            </a:r>
          </a:p>
          <a:p>
            <a:r>
              <a:rPr lang="LID4096" dirty="0"/>
              <a:t>-------------------------------------</a:t>
            </a:r>
          </a:p>
          <a:p>
            <a:r>
              <a:rPr lang="LID4096" dirty="0"/>
              <a:t>Combat States are assigned Transitions which constantly check the distance between Survivor and Threat.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E9DE7-70A5-4C67-698F-CF84ED2D8581}"/>
              </a:ext>
            </a:extLst>
          </p:cNvPr>
          <p:cNvSpPr txBox="1"/>
          <p:nvPr/>
        </p:nvSpPr>
        <p:spPr>
          <a:xfrm>
            <a:off x="0" y="4033684"/>
            <a:ext cx="741741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Interesting decision:</a:t>
            </a:r>
          </a:p>
          <a:p>
            <a:r>
              <a:rPr lang="" dirty="0"/>
              <a:t>FSMInstance-&gt;AddTransition( Engage, Reposition, </a:t>
            </a:r>
            <a:br>
              <a:rPr lang="" dirty="0"/>
            </a:br>
            <a:r>
              <a:rPr lang="" dirty="0"/>
              <a:t>    [DistanceToThreat, MinDist, ThreatSpeed, MySpeed]()</a:t>
            </a:r>
            <a:br>
              <a:rPr lang="" dirty="0"/>
            </a:br>
            <a:r>
              <a:rPr lang="" dirty="0"/>
              <a:t>    {</a:t>
            </a:r>
            <a:br>
              <a:rPr lang="" dirty="0"/>
            </a:br>
            <a:r>
              <a:rPr lang="" dirty="0"/>
              <a:t>       const bool bTooClose{ DistanceToThreat() &lt; MinDist };</a:t>
            </a:r>
            <a:br>
              <a:rPr lang="" dirty="0"/>
            </a:br>
            <a:r>
              <a:rPr lang="" dirty="0"/>
              <a:t>       const bool bCanOutrun{ ThreatSpeed &gt; 0.f &amp;&amp; ThreatSpeed &lt; MySpeed };</a:t>
            </a:r>
            <a:br>
              <a:rPr lang="" dirty="0"/>
            </a:br>
            <a:r>
              <a:rPr lang="" dirty="0"/>
              <a:t>       return bTooClose &amp;&amp; bCanOutrun;</a:t>
            </a:r>
            <a:br>
              <a:rPr lang="" dirty="0"/>
            </a:br>
            <a:r>
              <a:rPr lang="" dirty="0"/>
              <a:t>    } );</a:t>
            </a:r>
          </a:p>
          <a:p>
            <a:endParaRPr lang="LID409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D20100-5887-E769-4B84-1FCE3FDDB544}"/>
              </a:ext>
            </a:extLst>
          </p:cNvPr>
          <p:cNvSpPr txBox="1"/>
          <p:nvPr/>
        </p:nvSpPr>
        <p:spPr>
          <a:xfrm>
            <a:off x="6161460" y="3721060"/>
            <a:ext cx="6186008" cy="121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Engage -&gt; Reposition, see if distance is too low.</a:t>
            </a:r>
            <a:b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</a:b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EXCEPTION: even if distance is low, when facing a Runner, don't transition to Reposition =&gt; stay Fight</a:t>
            </a:r>
            <a:b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</a:br>
            <a:r>
              <a:rPr lang="" sz="1800" i="1" dirty="0">
                <a:solidFill>
                  <a:srgbClr val="85C46C"/>
                </a:solidFill>
                <a:effectLst/>
                <a:latin typeface="JetBrains Mono"/>
              </a:rPr>
              <a:t>// =&gt; If can't outrun even when fleeing -&gt; fight</a:t>
            </a:r>
            <a:endParaRPr lang="" sz="1800" dirty="0">
              <a:solidFill>
                <a:srgbClr val="D0D0D0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F3CD0-8532-CDD3-3437-B03ABB00E8A3}"/>
              </a:ext>
            </a:extLst>
          </p:cNvPr>
          <p:cNvSpPr txBox="1"/>
          <p:nvPr/>
        </p:nvSpPr>
        <p:spPr>
          <a:xfrm>
            <a:off x="127343" y="4184551"/>
            <a:ext cx="62228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i="0" dirty="0">
                <a:effectLst/>
                <a:latin typeface="SFMono-Regular"/>
              </a:rPr>
              <a:t>Making use of the BT Task class - Use Item of Type, we set the HIGHEST priority node in the whole BT to be Emergency Heal, the condition being HealthPct &lt;= 0.3. Next is Combat which we already did. But after that comes Eat when Tired which is again if StaminaPct &lt;= 0.3 -&gt; Use Item of Type: Food. The final new addition is the Task Drop Empty Weapon which comes before Loot and internally returns Success if: - has weapon of Pistol or/and Shotgun - weapon's Item value &lt;= 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1A9A8-C488-4EA0-690E-4C04F4AE4B1C}"/>
              </a:ext>
            </a:extLst>
          </p:cNvPr>
          <p:cNvSpPr txBox="1"/>
          <p:nvPr/>
        </p:nvSpPr>
        <p:spPr>
          <a:xfrm>
            <a:off x="207122" y="2974168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Created a new high priority (second highest after emergency heal) sequence React To Damage.</a:t>
            </a:r>
          </a:p>
          <a:p>
            <a:r>
              <a:rPr lang="LID4096" dirty="0"/>
              <a:t>It executes a task node Scan For Threat that rotates the survivor up to max of 400 degress and the moment Threat Actor is found/set -&gt; Succeed task.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EEDB3-A3A2-10EA-8BE6-76A1DA1E8B43}"/>
              </a:ext>
            </a:extLst>
          </p:cNvPr>
          <p:cNvSpPr txBox="1"/>
          <p:nvPr/>
        </p:nvSpPr>
        <p:spPr>
          <a:xfrm>
            <a:off x="6514334" y="2595915"/>
            <a:ext cx="48394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The only place where Steering </a:t>
            </a:r>
            <a:r>
              <a:rPr lang="en-GB" dirty="0" err="1"/>
              <a:t>Behaviors</a:t>
            </a:r>
            <a:r>
              <a:rPr lang="en-GB" dirty="0"/>
              <a:t> are used</a:t>
            </a:r>
          </a:p>
          <a:p>
            <a:r>
              <a:rPr lang="en-GB" dirty="0"/>
              <a:t>are in the Combat FSM:</a:t>
            </a:r>
          </a:p>
          <a:p>
            <a:pPr marL="285750" indent="-285750">
              <a:buFontTx/>
              <a:buChar char="-"/>
            </a:pPr>
            <a:r>
              <a:rPr lang="en-GB" dirty="0"/>
              <a:t>Face for Engage State</a:t>
            </a:r>
          </a:p>
          <a:p>
            <a:pPr marL="285750" indent="-285750">
              <a:buFontTx/>
              <a:buChar char="-"/>
            </a:pPr>
            <a:r>
              <a:rPr lang="en-GB" dirty="0"/>
              <a:t>Flee for Reposition State</a:t>
            </a: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D2D738-227C-D386-FA63-98BE1429A5C7}"/>
              </a:ext>
            </a:extLst>
          </p:cNvPr>
          <p:cNvSpPr txBox="1"/>
          <p:nvPr/>
        </p:nvSpPr>
        <p:spPr>
          <a:xfrm>
            <a:off x="5132505" y="4451496"/>
            <a:ext cx="634859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Fleeing is interesting – at first, I thought reusing Evade</a:t>
            </a:r>
          </a:p>
          <a:p>
            <a:r>
              <a:rPr lang="en-GB" dirty="0"/>
              <a:t>would be perfect for this situation but then I came to the </a:t>
            </a:r>
          </a:p>
          <a:p>
            <a:r>
              <a:rPr lang="en-GB" dirty="0"/>
              <a:t>idea that Evade does not care about walls or generation.</a:t>
            </a:r>
          </a:p>
          <a:p>
            <a:r>
              <a:rPr lang="en-GB" dirty="0"/>
              <a:t>That’s why I decided to make a dedicated Find Flee Location </a:t>
            </a:r>
          </a:p>
          <a:p>
            <a:r>
              <a:rPr lang="en-GB" dirty="0"/>
              <a:t>task which calculates the “Best” position to move to when fleeing</a:t>
            </a:r>
          </a:p>
          <a:p>
            <a:r>
              <a:rPr lang="en-GB" dirty="0"/>
              <a:t>while taking into account walls and best direction.</a:t>
            </a:r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1016</Words>
  <Application>Microsoft Office PowerPoint</Application>
  <PresentationFormat>Widescreen</PresentationFormat>
  <Paragraphs>68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17</cp:revision>
  <dcterms:created xsi:type="dcterms:W3CDTF">2021-12-17T12:45:32Z</dcterms:created>
  <dcterms:modified xsi:type="dcterms:W3CDTF">2026-06-05T11:42:10Z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